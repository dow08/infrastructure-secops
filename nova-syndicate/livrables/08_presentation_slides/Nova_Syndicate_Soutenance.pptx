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Nova Syndicate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Infrastructure Reseau Securisee</a:t>
            </a:r>
          </a:p>
          <a:p>
            <a:pPr algn="ctr">
              <a:defRPr sz="2800">
                <a:solidFill>
                  <a:srgbClr val="FFFFFF"/>
                </a:solidFill>
              </a:defRPr>
            </a:pPr>
            <a:r>
              <a:t>Projet de fin d'etudes</a:t>
            </a:r>
          </a:p>
          <a:p>
            <a:pPr algn="ctr">
              <a:defRPr sz="2800">
                <a:solidFill>
                  <a:srgbClr val="FFFFFF"/>
                </a:solidFill>
              </a:defRPr>
            </a:pPr>
            <a:r>
              <a:t>Dorian Poncelet - Jedha 2026</a:t>
            </a:r>
          </a:p>
          <a:p>
            <a:pPr algn="ctr">
              <a:defRPr sz="2800">
                <a:solidFill>
                  <a:srgbClr val="FFFFFF"/>
                </a:solidFill>
              </a:defRPr>
            </a:pPr>
            <a:r>
              <a:t>RNCP 6 AIS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Contexte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000000"/>
                </a:solidFill>
              </a:defRPr>
            </a:pPr>
            <a:r>
              <a:t>• BricoPro : site e-commerce</a:t>
            </a:r>
          </a:p>
          <a:p>
            <a:pPr>
              <a:defRPr sz="2800">
                <a:solidFill>
                  <a:srgbClr val="000000"/>
                </a:solidFill>
              </a:defRPr>
            </a:pPr>
            <a:r>
              <a:t>• 2 sites : Lyon + Marseille</a:t>
            </a:r>
          </a:p>
          <a:p>
            <a:pPr>
              <a:defRPr sz="2800">
                <a:solidFill>
                  <a:srgbClr val="000000"/>
                </a:solidFill>
              </a:defRPr>
            </a:pPr>
            <a:r>
              <a:t>• Infrastructure multi-sites</a:t>
            </a:r>
          </a:p>
          <a:p>
            <a:pPr>
              <a:defRPr sz="2800">
                <a:solidFill>
                  <a:srgbClr val="000000"/>
                </a:solidFill>
              </a:defRPr>
            </a:pPr>
            <a:r>
              <a:t>• VLAN + Defense in Depth</a:t>
            </a:r>
          </a:p>
          <a:p>
            <a:pPr>
              <a:defRPr sz="2800">
                <a:solidFill>
                  <a:srgbClr val="000000"/>
                </a:solidFill>
              </a:defRPr>
            </a:pPr>
            <a:r>
              <a:t>• Wazuh + Suricata</a:t>
            </a:r>
          </a:p>
          <a:p>
            <a:pPr>
              <a:defRPr sz="2800">
                <a:solidFill>
                  <a:srgbClr val="000000"/>
                </a:solidFill>
              </a:defRPr>
            </a:pPr>
            <a:r>
              <a:t>• Prometheus + Loki + Grafana</a:t>
            </a:r>
          </a:p>
          <a:p>
            <a:pPr>
              <a:defRPr sz="2800">
                <a:solidFill>
                  <a:srgbClr val="000000"/>
                </a:solidFill>
              </a:defRPr>
            </a:pPr>
            <a:r>
              <a:t>• Terraform + Ansible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Architecture - Hub &amp; Spoke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solidFill>
            <a:srgbClr val="F0F0F0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  <a:r>
              <a:t>[Architecture Diagram]</a:t>
            </a:r>
          </a:p>
        </p:txBody>
      </p:sp>
      <p:pic>
        <p:nvPicPr>
          <p:cNvPr id="4" name="Picture 3" descr="Connexion ipsec lyon marseille a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363299" cy="2286000"/>
          </a:xfrm>
          <a:prstGeom prst="rect">
            <a:avLst/>
          </a:prstGeom>
        </p:spPr>
      </p:pic>
      <p:pic>
        <p:nvPicPr>
          <p:cNvPr id="5" name="Picture 4" descr="Vue d'ensemble interfa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188720"/>
            <a:ext cx="3205428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Stack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000000"/>
                </a:solidFill>
              </a:defRPr>
            </a:pPr>
            <a:r>
              <a:t>• Proxmox + OPNsense + Suricata</a:t>
            </a:r>
          </a:p>
          <a:p>
            <a:pPr>
              <a:defRPr sz="2800">
                <a:solidFill>
                  <a:srgbClr val="000000"/>
                </a:solidFill>
              </a:defRPr>
            </a:pPr>
            <a:r>
              <a:t>• Samba 4 + MariaDB + Nginx</a:t>
            </a:r>
          </a:p>
          <a:p>
            <a:pPr>
              <a:defRPr sz="2800">
                <a:solidFill>
                  <a:srgbClr val="000000"/>
                </a:solidFill>
              </a:defRPr>
            </a:pPr>
            <a:r>
              <a:t>• OpenVPN + Wazuh</a:t>
            </a:r>
          </a:p>
          <a:p>
            <a:pPr>
              <a:defRPr sz="2800">
                <a:solidFill>
                  <a:srgbClr val="000000"/>
                </a:solidFill>
              </a:defRPr>
            </a:pPr>
            <a:r>
              <a:t>• Prometheus + Loki + Grafana</a:t>
            </a:r>
          </a:p>
          <a:p>
            <a:pPr>
              <a:defRPr sz="2800">
                <a:solidFill>
                  <a:srgbClr val="000000"/>
                </a:solidFill>
              </a:defRPr>
            </a:pPr>
            <a:r>
              <a:t>• Trivy + Checkov + Gitleaks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DEMO LIVE</a:t>
            </a:r>
          </a:p>
        </p:txBody>
      </p:sp>
      <p:pic>
        <p:nvPicPr>
          <p:cNvPr id="3" name="Picture 2" descr="SIte vitrine deployé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3997214" cy="2560320"/>
          </a:xfrm>
          <a:prstGeom prst="rect">
            <a:avLst/>
          </a:prstGeom>
        </p:spPr>
      </p:pic>
      <p:pic>
        <p:nvPicPr>
          <p:cNvPr id="4" name="Picture 3" descr="POC AD + 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188720"/>
            <a:ext cx="4815174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Infrastructure-as-Code + DevSecOps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IaC</a:t>
            </a:r>
          </a:p>
          <a:p>
            <a:r>
              <a:t>• Terraform</a:t>
            </a:r>
          </a:p>
          <a:p>
            <a:r>
              <a:t>• Ansible</a:t>
            </a:r>
          </a:p>
          <a:p>
            <a:r>
              <a:t>• Git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3657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CI/CD</a:t>
            </a:r>
          </a:p>
          <a:p>
            <a:r>
              <a:t>• Trivy</a:t>
            </a:r>
          </a:p>
          <a:p>
            <a:r>
              <a:t>• Checkov</a:t>
            </a:r>
          </a:p>
          <a:p>
            <a:r>
              <a:t>• Gitleaks</a:t>
            </a:r>
          </a:p>
        </p:txBody>
      </p:sp>
      <p:pic>
        <p:nvPicPr>
          <p:cNvPr id="5" name="Picture 4" descr="Création des 12 VMs automatiquement via terra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648864" cy="1828800"/>
          </a:xfrm>
          <a:prstGeom prst="rect">
            <a:avLst/>
          </a:prstGeom>
        </p:spPr>
      </p:pic>
      <p:pic>
        <p:nvPicPr>
          <p:cNvPr id="6" name="Picture 5" descr="DEploiement ansible terminé 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914400"/>
            <a:ext cx="3591270" cy="1828800"/>
          </a:xfrm>
          <a:prstGeom prst="rect">
            <a:avLst/>
          </a:prstGeom>
        </p:spPr>
      </p:pic>
      <p:pic>
        <p:nvPicPr>
          <p:cNvPr id="7" name="Picture 6" descr="CICD Scan de sécurité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926080"/>
            <a:ext cx="4005425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Defense in 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000000"/>
                </a:solidFill>
              </a:defRPr>
            </a:pPr>
            <a:r>
              <a:t>1. Perimetre : OPNsense</a:t>
            </a:r>
          </a:p>
          <a:p>
            <a:pPr>
              <a:defRPr sz="2800">
                <a:solidFill>
                  <a:srgbClr val="000000"/>
                </a:solidFill>
              </a:defRPr>
            </a:pPr>
            <a:r>
              <a:t>2. Segmentation : VLANs</a:t>
            </a:r>
          </a:p>
          <a:p>
            <a:pPr>
              <a:defRPr sz="2800">
                <a:solidFill>
                  <a:srgbClr val="000000"/>
                </a:solidFill>
              </a:defRPr>
            </a:pPr>
            <a:r>
              <a:t>3. Hardening : Fail2ban</a:t>
            </a:r>
          </a:p>
          <a:p>
            <a:pPr>
              <a:defRPr sz="2800">
                <a:solidFill>
                  <a:srgbClr val="000000"/>
                </a:solidFill>
              </a:defRPr>
            </a:pPr>
            <a:r>
              <a:t>4. Detection : Wazuh</a:t>
            </a:r>
          </a:p>
          <a:p>
            <a:pPr>
              <a:defRPr sz="2800">
                <a:solidFill>
                  <a:srgbClr val="000000"/>
                </a:solidFill>
              </a:defRPr>
            </a:pPr>
            <a:r>
              <a:t>5. Audit : Loki</a:t>
            </a:r>
          </a:p>
        </p:txBody>
      </p:sp>
      <p:pic>
        <p:nvPicPr>
          <p:cNvPr id="4" name="Picture 3" descr="Dashboard Wazu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000379" cy="2560320"/>
          </a:xfrm>
          <a:prstGeom prst="rect">
            <a:avLst/>
          </a:prstGeom>
        </p:spPr>
      </p:pic>
      <p:pic>
        <p:nvPicPr>
          <p:cNvPr id="5" name="Picture 4" descr="POC PROMETHEUS+GRAFANA+LOK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188720"/>
            <a:ext cx="4387772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PCA / PRA + Conformite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840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Continuite</a:t>
            </a:r>
          </a:p>
          <a:p>
            <a:r>
              <a:t>• Recuperation</a:t>
            </a:r>
          </a:p>
          <a:p>
            <a:r>
              <a:t>• Repli</a:t>
            </a:r>
          </a:p>
          <a:p>
            <a:r>
              <a:t>• IPsec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371600"/>
            <a:ext cx="3840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Normes</a:t>
            </a:r>
          </a:p>
          <a:p>
            <a:r>
              <a:t>• ISO 27001</a:t>
            </a:r>
          </a:p>
          <a:p>
            <a:r>
              <a:t>• ANSSI</a:t>
            </a:r>
          </a:p>
          <a:p>
            <a:r>
              <a:t>• NIST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Etude Economique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000000"/>
                </a:solidFill>
              </a:defRPr>
            </a:pPr>
            <a:r>
              <a:t>A: 173k EUR</a:t>
            </a:r>
          </a:p>
          <a:p>
            <a:pPr>
              <a:defRPr sz="2800">
                <a:solidFill>
                  <a:srgbClr val="000000"/>
                </a:solidFill>
              </a:defRPr>
            </a:pPr>
            <a:r>
              <a:t>B: 38.7k EUR (Retenu)</a:t>
            </a:r>
          </a:p>
          <a:p>
            <a:pPr>
              <a:defRPr sz="2800">
                <a:solidFill>
                  <a:srgbClr val="000000"/>
                </a:solidFill>
              </a:defRPr>
            </a:pPr>
            <a:r>
              <a:t>C: 95k EUR</a:t>
            </a:r>
          </a:p>
          <a:p>
            <a:pPr>
              <a:defRPr sz="2800">
                <a:solidFill>
                  <a:srgbClr val="000000"/>
                </a:solidFill>
              </a:defRPr>
            </a:pPr>
          </a:p>
          <a:p>
            <a:pPr>
              <a:defRPr sz="2800">
                <a:solidFill>
                  <a:srgbClr val="000000"/>
                </a:solidFill>
              </a:defRPr>
            </a:pPr>
            <a:r>
              <a:t>Savings: -78%</a:t>
            </a:r>
          </a:p>
          <a:p>
            <a:pPr>
              <a:defRPr sz="2800">
                <a:solidFill>
                  <a:srgbClr val="000000"/>
                </a:solidFill>
              </a:defRPr>
            </a:pPr>
            <a:r>
              <a:t>Souverainete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3200"/>
            </a:pPr>
            <a:r>
              <a:t>✓ Infrastructure reproductible</a:t>
            </a:r>
          </a:p>
          <a:p>
            <a:pPr>
              <a:spcBef>
                <a:spcPts val="1000"/>
              </a:spcBef>
              <a:defRPr sz="3200"/>
            </a:pPr>
            <a:r>
              <a:t>✓ 35+ POC validees</a:t>
            </a:r>
          </a:p>
          <a:p>
            <a:pPr>
              <a:spcBef>
                <a:spcPts val="1000"/>
              </a:spcBef>
              <a:defRPr sz="3200"/>
            </a:pPr>
            <a:r>
              <a:t>✓ Defense in Depth</a:t>
            </a:r>
          </a:p>
          <a:p>
            <a:pPr>
              <a:spcBef>
                <a:spcPts val="1000"/>
              </a:spcBef>
              <a:defRPr sz="3200"/>
            </a:pPr>
            <a:r>
              <a:t>✓ Conformite</a:t>
            </a:r>
          </a:p>
          <a:p>
            <a:pPr>
              <a:spcBef>
                <a:spcPts val="1000"/>
              </a:spcBef>
              <a:defRPr sz="3200"/>
            </a:pPr>
            <a:r>
              <a:t>✓ Economies -78%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F4E79"/>
                </a:solidFill>
              </a:defRPr>
            </a:pPr>
            <a:r>
              <a:t>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