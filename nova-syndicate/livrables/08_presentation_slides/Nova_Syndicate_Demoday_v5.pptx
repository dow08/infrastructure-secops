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399" y="1005840"/>
            <a:ext cx="10332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400" b="1" dirty="0" err="1">
                <a:solidFill>
                  <a:srgbClr val="FFFFFF"/>
                </a:solidFill>
                <a:latin typeface="Calibri"/>
              </a:rPr>
              <a:t>Demo</a:t>
            </a:r>
            <a:r>
              <a:rPr lang="fr-FR" sz="5400" b="1" dirty="0">
                <a:solidFill>
                  <a:srgbClr val="FFFFFF"/>
                </a:solidFill>
                <a:latin typeface="Calibri"/>
              </a:rPr>
              <a:t>-Day</a:t>
            </a:r>
            <a:endParaRPr sz="5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2606040"/>
            <a:ext cx="6675120" cy="5486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3FDAD2"/>
                </a:solidFill>
                <a:latin typeface="Calibri"/>
              </a:rPr>
              <a:t>Infrastructure Reseau Securisee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D8E0"/>
                </a:solidFill>
                <a:latin typeface="Calibri"/>
              </a:rPr>
              <a:t>Projet e-commerce  —  BricoPro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3749039" cy="502920"/>
          </a:xfrm>
          <a:prstGeom prst="rect">
            <a:avLst/>
          </a:prstGeom>
          <a:solidFill>
            <a:srgbClr val="015955"/>
          </a:solidFill>
          <a:ln w="1905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4114800"/>
            <a:ext cx="37490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Jedha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Bootcamp  |  </a:t>
            </a:r>
            <a:r>
              <a:rPr lang="fr-FR" sz="1300" b="1" i="0" dirty="0">
                <a:solidFill>
                  <a:srgbClr val="FFFFFF"/>
                </a:solidFill>
                <a:latin typeface="Calibri"/>
              </a:rPr>
              <a:t>Juin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1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3FFFC"/>
                </a:solidFill>
                <a:latin typeface="Calibri"/>
              </a:rPr>
              <a:t>Dorian Poncelet   |   RNCP Niveau 6 — Administrateur Infrastructures Securisees   | 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Contexte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LE BESOIN — BricoPro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Site e-commerce outillage bricolage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2 sites geographiques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Lyon (hub)  +  Marseille (PRA)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6 composants imposes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Web | DB | Fichiers | AD | Monitoring | Securite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Conformite exigee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ISO 27001  |  RGPD  |  ISO 22301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3 phases de livraison imposees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Analyse  -&gt;  Conception  -&gt;  Amelioration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NOTRE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Architecture Hub &amp; Spoke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Lyon hub  +  Marseille spoke (PRA/failover)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Stack 100% open-source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OPNsense / Proxmox / Wazuh / Grafana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Terraform / Ansible / Samba4 / Suricata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Defense in Depth — 5 couches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Perimetre -&gt; Reseau -&gt; Host -&gt; App -&gt; Audit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A850"/>
                </a:solidFill>
                <a:latin typeface="Calibri"/>
              </a:rPr>
              <a:t>TCO 3 ans : 38 730 EUR  (-78% vs proprietaire)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Zero vendor lock-in  |  Souverainete totale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Architecture — Hub &amp; Spoke  |  IPsec AES-256  |  5 VLANs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Hub &amp; Spoke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Lyon hub central  +  Marseille spoke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VPN IPsec IKEv2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AES-256-GCM  /  SHA-512  /  DH Group 20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5 VLANs isoles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DMZ  /  Users  /  Servers  /  MGMT  /  Backup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Deny All par defaut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Regles ACL explicites uniquement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96012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12 VMs  |  Proxmox KVM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6 bridges reseau configures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Pare-feu perimetrique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OPNsense Lyon  +  OPNsense Marseille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Bastion SSH isole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VLAN MGMT uniquement  —  acces admin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RODC Marseille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Replique AD  —  PRA automatique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Suricata IDS  —  5 865 regles ET Open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EVE JSON  |  cron update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291072"/>
            <a:ext cx="11430000" cy="420624"/>
          </a:xfrm>
          <a:prstGeom prst="rect">
            <a:avLst/>
          </a:prstGeom>
          <a:solidFill>
            <a:srgbClr val="C3FFFC"/>
          </a:solidFill>
          <a:ln w="1270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955"/>
                </a:solidFill>
                <a:latin typeface="Calibri"/>
              </a:rPr>
              <a:t>  Slides suivants : topologie complete + preuve tunnel IPsec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Architecture — Schema reseau complet Hub &amp; Spoke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Topologie_Final.excalidraw -&gt; 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475488"/>
            <a:ext cx="11978640" cy="6309360"/>
          </a:xfrm>
          <a:prstGeom prst="rect">
            <a:avLst/>
          </a:prstGeom>
          <a:solidFill>
            <a:srgbClr val="C3FFFC"/>
          </a:solidFill>
          <a:ln w="2540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</a:pPr>
            <a:r>
              <a:rPr sz="2000" b="1">
                <a:solidFill>
                  <a:srgbClr val="015955"/>
                </a:solidFill>
                <a:latin typeface="Calibri"/>
              </a:rPr>
              <a:t>[ SCREENSHOT A INSERER ]</a:t>
            </a:r>
          </a:p>
          <a:p>
            <a:pPr algn="ctr"/>
            <a:r>
              <a:rPr sz="1400" i="1">
                <a:solidFill>
                  <a:srgbClr val="015955"/>
                </a:solidFill>
                <a:latin typeface="Calibri"/>
              </a:rPr>
              <a:t>Topologie_Final.png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EA4ABE6-265C-83DB-B699-D572F8EC2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" y="475489"/>
            <a:ext cx="11978640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Architecture — Tunnel IPsec Lyon &lt;-&gt; Marseille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IPsec IKEv2 ESTABLISHED</a:t>
            </a:r>
          </a:p>
        </p:txBody>
      </p:sp>
      <p:pic>
        <p:nvPicPr>
          <p:cNvPr id="7" name="Picture 6" descr="Connexion ipsec lyon marseille 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Infrastructure Applicative — 6 composants deployes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Serveur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07592"/>
            <a:ext cx="3566160" cy="2240280"/>
          </a:xfrm>
          <a:prstGeom prst="rect">
            <a:avLst/>
          </a:prstGeom>
          <a:solidFill>
            <a:srgbClr val="E8F4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Nginx + PHP-FPM
BricoPro — 22 produits
5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96012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960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Base de donnees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07592"/>
            <a:ext cx="3566160" cy="2240280"/>
          </a:xfrm>
          <a:prstGeom prst="rect">
            <a:avLst/>
          </a:prstGeom>
          <a:solidFill>
            <a:srgbClr val="C3FFFC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4173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MariaDB 10.11
VLAN interne isole
utf8mb4 / InnoDB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96012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960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Serveur de fichiers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307592"/>
            <a:ext cx="3566160" cy="2240280"/>
          </a:xfrm>
          <a:prstGeom prst="rect">
            <a:avLst/>
          </a:prstGeom>
          <a:solidFill>
            <a:srgbClr val="E8F4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141732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Samba File-01
Partage centralise
Auth via 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Active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3566160" cy="2240280"/>
          </a:xfrm>
          <a:prstGeom prst="rect">
            <a:avLst/>
          </a:prstGeom>
          <a:solidFill>
            <a:srgbClr val="C3FFFC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Samba4 nova.local
OpenVPN auth AD
RODC Marseille (PRA)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65760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3657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005072"/>
            <a:ext cx="3566160" cy="2240280"/>
          </a:xfrm>
          <a:prstGeom prst="rect">
            <a:avLst/>
          </a:prstGeom>
          <a:solidFill>
            <a:srgbClr val="E8F4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1148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Prometheus + Grafana
Loki — 5 dashboards
8 regles alerting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657600"/>
            <a:ext cx="356616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0" y="3657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Securite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005072"/>
            <a:ext cx="3566160" cy="2240280"/>
          </a:xfrm>
          <a:prstGeom prst="rect">
            <a:avLst/>
          </a:prstGeom>
          <a:solidFill>
            <a:srgbClr val="C3FFFC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41148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OPNsense + Suricata
5 865 regles IDS
Wazuh SIEM 3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 — Site e-commerce BricoPro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Nginx + PHP-FPM</a:t>
            </a:r>
          </a:p>
        </p:txBody>
      </p:sp>
      <p:pic>
        <p:nvPicPr>
          <p:cNvPr id="7" name="Picture 6" descr="SIte vitrine deploy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 — Active Directory Samba4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nova.local operationnel</a:t>
            </a:r>
          </a:p>
        </p:txBody>
      </p:sp>
      <p:pic>
        <p:nvPicPr>
          <p:cNvPr id="7" name="Picture 6" descr="Samba status + user tool 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Gestion de Projet — Methode &amp; Livrables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METHODOLOGIE &amp;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Phase I — Analyse (avril 2026)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Audit existant  |  Etude architecture multi-sites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Matrice 17 risques  |  Cahier des charges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Phase II — Conception (avril–mai 2026)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Proxmox + OPNsense + IPsec + VLANs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Stack web (Nginx + MariaDB + PHP)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Active Directory Samba4  |  IaC Terraform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Phase III — Amelioration (mai 2026)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Wazuh + Suricata  |  Grafana + Loki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Pipeline DevSecOps  |  PCA/PRA  |  Pentest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Outil : Kanban Notion — 19 taches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Suivi par statut  |  Pilotage autonome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 LIVRABLES PRODUITS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4846320" cy="420624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L1 — Rapport Phase I (analyse besoins)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09960" y="1371600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09960" y="1371600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47088"/>
            <a:ext cx="4846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L2 — Document technique Phase II (conception)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09960" y="1847088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9960" y="1847088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22576"/>
            <a:ext cx="4846320" cy="420624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322576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L3 — Rapport Phase III (amelioration)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09960" y="2322576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09960" y="2322576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798064"/>
            <a:ext cx="4846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79806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L4 — PCA + PRA + matrice 17 risques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09960" y="2798064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09960" y="2798064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73552"/>
            <a:ext cx="4846320" cy="420624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27355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L5 — Veille techno Wazuh (3 pages EN)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09960" y="3273552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09960" y="3273552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49040"/>
            <a:ext cx="4846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4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L6 — Scripts automation (Python + Bash)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09960" y="3749040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09960" y="3749040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24528"/>
            <a:ext cx="4846320" cy="420624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224528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L7 — Rapport pentest (10 scenarios PTES)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09960" y="4224528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4224528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700016"/>
            <a:ext cx="4846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700016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L8 — Etude CAPEX/OPEX 3 solutions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09960" y="4700016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09960" y="4700016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175504"/>
            <a:ext cx="4846320" cy="420624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517550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L9 — Presentation soutenance (slides)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09960" y="5175504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109960" y="5175504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650992"/>
            <a:ext cx="4846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5650992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3449"/>
                </a:solidFill>
                <a:latin typeface="Calibri"/>
              </a:rPr>
              <a:t>L10 — Kanban Notion + Gantt phases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09960" y="5650992"/>
            <a:ext cx="685800" cy="420624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109960" y="5650992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Gestion de Projet — Planning &amp; Livrables 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19 taches | toutes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475488"/>
            <a:ext cx="11978640" cy="6309360"/>
          </a:xfrm>
          <a:prstGeom prst="rect">
            <a:avLst/>
          </a:prstGeom>
          <a:solidFill>
            <a:srgbClr val="C3FFFC"/>
          </a:solidFill>
          <a:ln w="2540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</a:pPr>
            <a:r>
              <a:rPr sz="2000" b="1">
                <a:solidFill>
                  <a:srgbClr val="015955"/>
                </a:solidFill>
                <a:latin typeface="Calibri"/>
              </a:rPr>
              <a:t>[ SCREENSHOT A INSERER ]</a:t>
            </a:r>
          </a:p>
          <a:p>
            <a:pPr algn="ctr"/>
            <a:r>
              <a:rPr sz="1400" i="1">
                <a:solidFill>
                  <a:srgbClr val="015955"/>
                </a:solidFill>
                <a:latin typeface="Calibri"/>
              </a:rPr>
              <a:t>Gantt_Notion.png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21CC61A-1FA6-7158-7EE6-68632105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" y="484632"/>
            <a:ext cx="12082272" cy="6300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Securite &amp; Monitoring — Defense in Depth — 5 couches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SECURITE — 5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1. Perimetre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OPNsense — ACL Deny All — NAT — zones DMZ/LAN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2. Reseau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5 VLANs isoles — Suricata IDS 5 865 regles ET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3. Host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Fail2ban — UFW — sysctl hardening — Bastion SSH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4. Application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Requetes preparees — HTTPS — WAF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5. Audit &amp; Correlation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Wazuh SIEM — FIM — MITRE ATT&amp;CK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Correlation Suricata + Wazuh = pattern SOC N1/N2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MONITORING — OBSERVABILITE 360°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Metriques — Prometheus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Scrape 15s — retention 30 jours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4 exporters : node / mysql / nginx / promtail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Dashboards — Grafana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5 dashboards  |  8 regles alerting email/webhook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Logs centralises — Loki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Promtail  |  requetes LogQL temps reel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Sauvegarde — Politique 3-2-1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Local + NAS + Marseille hors-site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RPO 24h  |  RTO 4h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Securite — SIEM Wazuh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3 agents | MITRE ATT&amp;CK</a:t>
            </a:r>
          </a:p>
        </p:txBody>
      </p:sp>
      <p:pic>
        <p:nvPicPr>
          <p:cNvPr id="7" name="Picture 6" descr="Dashboard Wazu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Monitoring — Prometheus + Grafana + Loki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5 dashboards | 8 alertes</a:t>
            </a:r>
          </a:p>
        </p:txBody>
      </p:sp>
      <p:pic>
        <p:nvPicPr>
          <p:cNvPr id="7" name="Picture 6" descr="POC PROMETHEUS+GRAFANA+LO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Veille Technologique — Wazuh SIEM (EN)  |  3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POURQUOI WAZUH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Choix technologique justifie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Open-source  |  agents multi-OS  |  MITRE ATT&amp;CK natif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Alternative gratuite a Splunk / IBM QRadar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Version suivie : Wazuh 4.x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Migration Elastic -&gt; OpenSearch (souverainete)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API REST complete — intégration CI/CD native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Dashboards Kibana remplacés par OpenSearch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Surveille activement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CVEs composants (OpenSSL, OpenSearch, agents)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Alertes GitHub Security Advisory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Changelog officiel Wazuh.com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APPORTS &amp; CONFORMITE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Fonctionnalites cles utilisees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File Integrity Monitoring (FIM)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Vulnerability Detection (CVE scan)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Security Configuration Assessment (SCA)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Log collection + active response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Cadres de conformite couverts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GDPR  |  PCI-DSS  |  HIPAA  |  ISO 27001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NIST 800-53  |  TSC SOC 2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Livrable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Document 3 pages en anglais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015955"/>
                </a:solidFill>
                <a:latin typeface="Calibri"/>
              </a:rPr>
              <a:t>  livrables/05_veille_techno_EN/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BD0"/>
                </a:solidFill>
                <a:latin typeface="Calibri"/>
              </a:rPr>
              <a:t>DEMO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941832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1.  BricoPro — site e-commerce en ligne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2.  Tunnel IPsec — Lyon &lt;-&gt; Marseille actif + ping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3.  Wazuh — SIEM + evenements MITRE ATT&amp;CK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4.  Grafana — metriques temps reel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5.  Loki — logs centralises en temps reel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6.  Active Directory — Samba4 + samba-tool user list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7.  Pipeline CI/CD — GitHub Actions + 4 scanners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Infrastructure-as-Code  &amp;  DevSecOps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INFRASTRUCTURE-AS-CODE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Terraform — provisionnement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12 VMs + 6 bridges + 5 VLANs sur Proxmox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Ansible — configuration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10 playbooks idempotents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15955"/>
                </a:solidFill>
                <a:latin typeface="Calibri"/>
              </a:rPr>
              <a:t>  $ bash quickstart.sh all</a:t>
            </a:r>
          </a:p>
          <a:p>
            <a:pPr algn="l">
              <a:spcBef>
                <a:spcPts val="400"/>
              </a:spcBef>
            </a:pPr>
            <a:endParaRPr sz="1300" b="1" i="0">
              <a:solidFill>
                <a:srgbClr val="015955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A850"/>
                </a:solidFill>
                <a:latin typeface="Calibri"/>
              </a:rPr>
              <a:t>Redeployement complet : 30 a 45 min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Resilience maximale en cas de sinistre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DEVSECOPS — SECURITY SHIFTED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Trivy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CVE + secrets + misconfigs IaC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Checkov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Audit IaC — CIS benchmarks / NIST 800-53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Gitleaks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Detection secrets dans historique Git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Dependabot + GitHub Secret scanning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MAJ automatiques  |  Push protection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4B5258"/>
                </a:solidFill>
                <a:latin typeface="Calibri"/>
              </a:rPr>
              <a:t>Conforme SLSA Framework + NIST SSDF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IaC — Terraform : 12 VMs provisionnees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Proxmox KVM</a:t>
            </a:r>
          </a:p>
        </p:txBody>
      </p:sp>
      <p:pic>
        <p:nvPicPr>
          <p:cNvPr id="7" name="Picture 6" descr="Création des 12 VMs automatiquement via terra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3449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DevSecOps — Pipeline CI/CD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3FDAD2"/>
                </a:solidFill>
                <a:latin typeface="Calibri"/>
              </a:rPr>
              <a:t>Trivy | Checkov | Gitleaks</a:t>
            </a:r>
          </a:p>
        </p:txBody>
      </p:sp>
      <p:pic>
        <p:nvPicPr>
          <p:cNvPr id="7" name="Picture 6" descr="CICD Scan de sécurit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"/>
            <a:ext cx="11978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Etude economique — TCO 3 ans — Comparatif 3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788920" cy="384048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914400"/>
            <a:ext cx="3108960" cy="384048"/>
          </a:xfrm>
          <a:prstGeom prst="rect">
            <a:avLst/>
          </a:prstGeom>
          <a:solidFill>
            <a:srgbClr val="145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914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 — Cloud Managed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914400"/>
            <a:ext cx="3017520" cy="384048"/>
          </a:xfrm>
          <a:prstGeom prst="rect">
            <a:avLst/>
          </a:prstGeom>
          <a:solidFill>
            <a:srgbClr val="01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9144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 — Open-Source 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55480" y="914400"/>
            <a:ext cx="2514600" cy="384048"/>
          </a:xfrm>
          <a:prstGeom prst="rect">
            <a:avLst/>
          </a:prstGeom>
          <a:solidFill>
            <a:srgbClr val="145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9144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 — Proprietaire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98448"/>
            <a:ext cx="278892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298448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TCO 3 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98448"/>
            <a:ext cx="310896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298448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47 200 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98448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298448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38 730 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1298448"/>
            <a:ext cx="251460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298448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173 042 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28216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728216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vs Proprietaire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728216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1728216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-73 %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728216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728216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-78 %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1728216"/>
            <a:ext cx="2514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1728216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reference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157984"/>
            <a:ext cx="278892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157984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Souverainete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157984"/>
            <a:ext cx="310896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2157984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Partielle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157984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2157984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Totale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2157984"/>
            <a:ext cx="251460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0" y="2157984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Limitee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587752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2587752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Vendor lock-in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587752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2587752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Oui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2587752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2587752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Non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2587752"/>
            <a:ext cx="2514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0" y="2587752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Oui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017520"/>
            <a:ext cx="278892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017520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Maintenance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3017520"/>
            <a:ext cx="310896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0" y="3017520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SLA prestataire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017520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3017520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Equipe interne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55480" y="3017520"/>
            <a:ext cx="2514600" cy="411480"/>
          </a:xfrm>
          <a:prstGeom prst="rect">
            <a:avLst/>
          </a:prstGeom>
          <a:solidFill>
            <a:srgbClr val="E8F4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0" y="3017520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SLA prestataire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447288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3447288"/>
            <a:ext cx="2743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Competences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3447288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91840" y="3447288"/>
            <a:ext cx="3063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Externalisees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3447288"/>
            <a:ext cx="3017520" cy="411480"/>
          </a:xfrm>
          <a:prstGeom prst="rect">
            <a:avLst/>
          </a:prstGeom>
          <a:solidFill>
            <a:srgbClr val="C3FF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3447288"/>
            <a:ext cx="2971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15955"/>
                </a:solidFill>
                <a:latin typeface="Calibri"/>
              </a:rPr>
              <a:t>Internalisees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3447288"/>
            <a:ext cx="2514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0" y="3447288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E3449"/>
                </a:solidFill>
                <a:latin typeface="Calibri"/>
              </a:rPr>
              <a:t>Externalisees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931920"/>
            <a:ext cx="11430000" cy="1371600"/>
          </a:xfrm>
          <a:prstGeom prst="rect">
            <a:avLst/>
          </a:prstGeom>
          <a:solidFill>
            <a:srgbClr val="C3FFFC"/>
          </a:solidFill>
          <a:ln w="1905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" y="3995928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15955"/>
                </a:solidFill>
                <a:latin typeface="Calibri"/>
              </a:rPr>
              <a:t>Solution B retenue — Open-source on-premise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E3449"/>
                </a:solidFill>
                <a:latin typeface="Calibri"/>
              </a:rPr>
              <a:t>  38 730 EUR  |  -78% vs proprietaire  |  Economies de 134 312 EUR sur 3 ans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0E3449"/>
                </a:solidFill>
                <a:latin typeface="Calibri"/>
              </a:rPr>
              <a:t>  Souverainete totale  |  Zero vendor lock-in  |  CAPEX initial : 22 730 EUR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486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50"/>
                </a:solidFill>
                <a:latin typeface="Calibri"/>
              </a:rPr>
              <a:t>ROI vs proprietaire : -78 %   |   vs cloud : -18 %   |   OPEX annuel : 4 200 EUR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PCA / PRA — Continuite &amp; Reprise d'Activite  (ISO 22301)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PCA — PLAN DE CONTINUITE D'ACTIVITE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Perimetre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Toute l'infrastructure Nova Syndicate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17 risques identifies et cotes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Cotation : Probabilite x Impact (1 a 4)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C00000"/>
                </a:solidFill>
                <a:latin typeface="Calibri"/>
              </a:rPr>
              <a:t>  3 risques critiques &gt;= 9 (intrusion, IPsec, AD)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C0000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5 procedures de continuite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Declenchement auto si tunnel IPsec down &gt; 30 min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Basculement RODC Marseille en &lt; 15 min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10 referentiels normatifs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ISO 22301 / ISO 27001 / RGPD / NIST / CIS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PRA — PLAN DE REPRISE D'ACTIVITE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Objectifs de reprise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RPO : 24h  (perte de donnees maximale acceptable)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RTO : 4h   (temps de reprise maximal)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5 scenarios sinistre documentes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S1 — Panne tunnel IPsec  -&gt; basculement Marseille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S2 — Perte VM critique  -&gt; restore depuis backup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S3 — Compromise AD  -&gt; RODC Marseille isole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S4 — Ransomware  -&gt; restauration 3-2-1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258"/>
                </a:solidFill>
                <a:latin typeface="Calibri"/>
              </a:rPr>
              <a:t>  S5 — Panne datacenter Lyon  -&gt; site Marseille actif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4B5258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Redeployement IaC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15955"/>
                </a:solidFill>
                <a:latin typeface="Calibri"/>
              </a:rPr>
              <a:t>  bash quickstart.sh all  -&gt;  infra complete en 30-45 min</a:t>
            </a:r>
          </a:p>
          <a:p>
            <a:pPr algn="l">
              <a:spcBef>
                <a:spcPts val="400"/>
              </a:spcBef>
            </a:pPr>
            <a:endParaRPr sz="1300" b="1" i="0">
              <a:solidFill>
                <a:srgbClr val="015955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A850"/>
                </a:solidFill>
                <a:latin typeface="Calibri"/>
              </a:rPr>
              <a:t>Sauvegarde 3-2-1  :  Local + NAS + Marseille hors-site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3449"/>
                </a:solidFill>
                <a:latin typeface="Calibri"/>
              </a:rPr>
              <a:t>Tests d'Intrusion — Self-Pentest  |  Methodologie PTES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 SCENARIOS 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P01 — Scan de ports (Nmap)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0A850"/>
                </a:solidFill>
                <a:latin typeface="Calibri"/>
              </a:rPr>
              <a:t>  Resultat : ports fermes hors DMZ — Conforme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00A85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P02 — Brute force SSH (Hydra)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0A850"/>
                </a:solidFill>
                <a:latin typeface="Calibri"/>
              </a:rPr>
              <a:t>  Resultat : Fail2ban bloque en 6 tentatives — Conforme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00A85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P03 — Traversee VLAN (VLAN hopping)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0A850"/>
                </a:solidFill>
                <a:latin typeface="Calibri"/>
              </a:rPr>
              <a:t>  Resultat : ACL OPNsense — Acces bloque — Conforme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00A85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P04 — Injection SQL (SQLmap)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0A850"/>
                </a:solidFill>
                <a:latin typeface="Calibri"/>
              </a:rPr>
              <a:t>  Resultat : requetes preparees — Bloque — Conforme</a:t>
            </a:r>
          </a:p>
          <a:p>
            <a:pPr algn="l">
              <a:spcBef>
                <a:spcPts val="400"/>
              </a:spcBef>
            </a:pPr>
            <a:endParaRPr sz="1300" b="0" i="0">
              <a:solidFill>
                <a:srgbClr val="00A85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E3449"/>
                </a:solidFill>
                <a:latin typeface="Calibri"/>
              </a:rPr>
              <a:t>P05 — Exfiltration de donnees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0A850"/>
                </a:solidFill>
                <a:latin typeface="Calibri"/>
              </a:rPr>
              <a:t>  Resultat : Suricata alerte detectee dans Wazuh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RAPPORT COMPLET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577840" cy="5120640"/>
          </a:xfrm>
          <a:prstGeom prst="rect">
            <a:avLst/>
          </a:prstGeom>
          <a:solidFill>
            <a:srgbClr val="C3FFFC"/>
          </a:solidFill>
          <a:ln w="25400">
            <a:solidFill>
              <a:srgbClr val="00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0"/>
              </a:spcBef>
            </a:pPr>
            <a:r>
              <a:rPr sz="1600" b="1">
                <a:solidFill>
                  <a:srgbClr val="015955"/>
                </a:solidFill>
                <a:latin typeface="Calibri"/>
              </a:rPr>
              <a:t>[ SCREENSHOT OPTIONNEL ]</a:t>
            </a:r>
          </a:p>
          <a:p>
            <a:pPr algn="ctr">
              <a:spcBef>
                <a:spcPts val="1000"/>
              </a:spcBef>
            </a:pPr>
            <a:r>
              <a:rPr sz="1300" i="1">
                <a:solidFill>
                  <a:srgbClr val="015955"/>
                </a:solidFill>
                <a:latin typeface="Calibri"/>
              </a:rPr>
              <a:t>A inserer si temps disponible
Extrait rapport pentest
livrables/07_pentest_report/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017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Bilan — Ce que nous livrons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566160" cy="36576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3449"/>
                </a:solidFill>
                <a:latin typeface="Calibri"/>
              </a:rPr>
              <a:t>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5303520"/>
          </a:xfrm>
          <a:prstGeom prst="rect">
            <a:avLst/>
          </a:prstGeom>
          <a:solidFill>
            <a:srgbClr val="103A52"/>
          </a:solidFill>
          <a:ln w="12700">
            <a:solidFill>
              <a:srgbClr val="01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Serveur Web (Nginx / BricoPro)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Base de donnees (MariaDB)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Serveur de fichiers (Samba)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Active Directory (Samba4)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Monitoring (Wazuh + Grafana)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Securite (OPNsense + IDS)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IPsec AES-256 — 2 sites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12 VMs  |  5 VLANs isoles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96512" y="1005840"/>
            <a:ext cx="3566160" cy="36576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96512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3449"/>
                </a:solidFill>
                <a:latin typeface="Calibri"/>
              </a:rPr>
              <a:t>Livrables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71600"/>
            <a:ext cx="3566160" cy="5303520"/>
          </a:xfrm>
          <a:prstGeom prst="rect">
            <a:avLst/>
          </a:prstGeom>
          <a:solidFill>
            <a:srgbClr val="103A52"/>
          </a:solidFill>
          <a:ln w="12700">
            <a:solidFill>
              <a:srgbClr val="01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33672" y="148132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livrables documentaires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Rapports Phase I / II / III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PCA + PRA (ISO 22301)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Pentest 10 scenarios PTES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Veille techno Wazuh (EN)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Scripts Python + Bash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Etude CAPEX/OPEX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Kanban Notion 19 taches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27264" y="1005840"/>
            <a:ext cx="3566160" cy="36576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3449"/>
                </a:solidFill>
                <a:latin typeface="Calibri"/>
              </a:rPr>
              <a:t>Chiffres 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7264" y="1371600"/>
            <a:ext cx="3566160" cy="5303520"/>
          </a:xfrm>
          <a:prstGeom prst="rect">
            <a:avLst/>
          </a:prstGeom>
          <a:solidFill>
            <a:srgbClr val="103A52"/>
          </a:solidFill>
          <a:ln w="12700">
            <a:solidFill>
              <a:srgbClr val="015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148132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12 VMs  |  5 VLANs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playbooks Ansible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5 865 regles Suricata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25 incidents resolus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TCO 38 730 EUR  (-78%)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Redeployable en 30 min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17 risques cotes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scenarios pentest OK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788920"/>
            <a:ext cx="6675120" cy="54864"/>
          </a:xfrm>
          <a:prstGeom prst="rect">
            <a:avLst/>
          </a:prstGeom>
          <a:solidFill>
            <a:srgbClr val="00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BD0"/>
                </a:solidFill>
                <a:latin typeface="Calibri"/>
              </a:rP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8E0"/>
                </a:solidFill>
                <a:latin typeface="Calibri"/>
              </a:rPr>
              <a:t>Dorian Poncelet   |   github.com/Dow08/Projet_Nova_syndicate_Jedha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B5258"/>
                </a:solidFill>
                <a:latin typeface="Calibri"/>
              </a:rPr>
              <a:t>RNCP Niveau 6  —  Administrateur Infrastructures Securisees  —  Jedha Bootcamp  — 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1776</Words>
  <Application>Microsoft Office PowerPoint</Application>
  <PresentationFormat>Grand écran</PresentationFormat>
  <Paragraphs>350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Dow 08</cp:lastModifiedBy>
  <cp:revision>2</cp:revision>
  <dcterms:created xsi:type="dcterms:W3CDTF">2013-01-27T09:14:16Z</dcterms:created>
  <dcterms:modified xsi:type="dcterms:W3CDTF">2026-05-28T08:29:50Z</dcterms:modified>
  <cp:category/>
</cp:coreProperties>
</file>